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132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52B788"/>
                </a:solidFill>
                <a:latin typeface="Helvetica"/>
              </a:defRPr>
            </a:pPr>
            <a:r>
              <a:t>● CROSS PLATFORM APP DEVELOPMENT (CPAD) · JURY 1</a:t>
            </a:r>
          </a:p>
          <a:p>
            <a:pPr>
              <a:spcAft>
                <a:spcPts val="1000"/>
              </a:spcAft>
              <a:defRPr sz="5600" b="1">
                <a:solidFill>
                  <a:srgbClr val="F9F6F0"/>
                </a:solidFill>
                <a:latin typeface="Helvetica"/>
              </a:defRPr>
            </a:pPr>
            <a:r>
              <a:t>BrewBox</a:t>
            </a:r>
          </a:p>
          <a:p>
            <a:pPr>
              <a:spcAft>
                <a:spcPts val="2600"/>
              </a:spcAft>
              <a:defRPr sz="1900">
                <a:solidFill>
                  <a:srgbClr val="F2A679"/>
                </a:solidFill>
                <a:latin typeface="Arial"/>
              </a:defRPr>
            </a:pPr>
            <a:r>
              <a:t>Specialty Coffee &amp; Fine Tea Roastery</a:t>
            </a:r>
            <a:br/>
            <a:r>
              <a:t>Cross-Platform Mobile Application in React Native</a:t>
            </a:r>
          </a:p>
          <a:p>
            <a:pPr>
              <a:spcAft>
                <a:spcPts val="400"/>
              </a:spcAft>
              <a:defRPr sz="1800" b="1">
                <a:solidFill>
                  <a:srgbClr val="F9F6F0"/>
                </a:solidFill>
                <a:latin typeface="Helvetica"/>
              </a:defRPr>
            </a:pPr>
            <a:r>
              <a:t>Varad Vikas Mandhare</a:t>
            </a:r>
          </a:p>
          <a:p>
            <a:pPr>
              <a:spcAft>
                <a:spcPts val="1400"/>
              </a:spcAft>
              <a:defRPr sz="1350">
                <a:solidFill>
                  <a:srgbClr val="A89F95"/>
                </a:solidFill>
                <a:latin typeface="Arial"/>
              </a:defRPr>
            </a:pPr>
            <a:r>
              <a:t>B.Tech Information Technology · MIT ADT University, Pune</a:t>
            </a:r>
          </a:p>
          <a:p>
            <a:pPr>
              <a:defRPr sz="1100">
                <a:solidFill>
                  <a:srgbClr val="E27A3F"/>
                </a:solidFill>
                <a:latin typeface="Arial"/>
              </a:defRPr>
            </a:pPr>
            <a:r>
              <a:t>React Native 0.87.0  ·  TypeScript 6.0  ·  Zustand 5.0  ·  Hermes Engine  ·  Android SDK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7616" y="768096"/>
            <a:ext cx="2487168" cy="5394960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22960"/>
            <a:ext cx="2377440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02 — MOTIVATION &amp; CPAD PARADIGM</a:t>
            </a:r>
          </a:p>
          <a:p>
            <a:pPr>
              <a:spcAft>
                <a:spcPts val="300"/>
              </a:spcAft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Why React Native for BrewBox?</a:t>
            </a:r>
          </a:p>
          <a:p>
            <a:pPr>
              <a:defRPr sz="1250">
                <a:solidFill>
                  <a:srgbClr val="A89F95"/>
                </a:solidFill>
                <a:latin typeface="Arial"/>
              </a:defRPr>
            </a:pPr>
            <a:r>
              <a:t>Evaluating mobile architecture trade-offs for high-performance cross-platform commerce.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27A3F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Native Silos (Kotlin / Swift)</a:t>
            </a:r>
          </a:p>
          <a:p>
            <a:pPr>
              <a:defRPr sz="1150">
                <a:solidFill>
                  <a:srgbClr val="A89F95"/>
                </a:solidFill>
                <a:latin typeface="Arial"/>
              </a:defRPr>
            </a:pPr>
            <a:r>
              <a:t>Maintaining two distinct native codebases requires duplicated business logic, divergent cart mathematics, and fragmented feature rollouts.</a:t>
            </a:r>
            <a:br/>
            <a:br/>
            <a:r>
              <a:t>High engineering overhead for specialty single-origin stores where consistency across Android and iOS is critical.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27A3F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Hybrid WebViews (Cordova/PWA)</a:t>
            </a:r>
          </a:p>
          <a:p>
            <a:pPr>
              <a:defRPr sz="1150">
                <a:solidFill>
                  <a:srgbClr val="A89F95"/>
                </a:solidFill>
                <a:latin typeface="Arial"/>
              </a:defRPr>
            </a:pPr>
            <a:r>
              <a:t>Web-based wrappers suffer from DOM bridge latency, stuttering scroll views, lack of 60fps tactile feedback, and fragile offline behavior.</a:t>
            </a:r>
            <a:br/>
            <a:br/>
            <a:r>
              <a:t>Incapable of delivering the rich, sensory roastery experience (5-stage RoastMeters, extraction timers)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3657600"/>
          </a:xfrm>
          <a:prstGeom prst="roundRect">
            <a:avLst/>
          </a:prstGeom>
          <a:solidFill>
            <a:srgbClr val="201916"/>
          </a:solidFill>
          <a:ln w="12700">
            <a:solidFill>
              <a:srgbClr val="B4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27A3F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React Native (BrewBox)</a:t>
            </a:r>
          </a:p>
          <a:p>
            <a:pPr>
              <a:defRPr sz="1150">
                <a:solidFill>
                  <a:srgbClr val="A89F95"/>
                </a:solidFill>
                <a:latin typeface="Arial"/>
              </a:defRPr>
            </a:pPr>
            <a:r>
              <a:t>Single declarative TypeScript codebase compiled to real native Android/iOS view hierarchies via the Yoga Flexbox engine.</a:t>
            </a:r>
            <a:br/>
            <a:br/>
            <a:r>
              <a:t>Hermes AOT bytecode execution, zero DOM overhead, unidirectional Zustand state, and 100% standalone offline APK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728655" cy="5029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715000"/>
            <a:ext cx="101800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B788"/>
                </a:solidFill>
                <a:latin typeface="Arial"/>
              </a:defRPr>
            </a:pPr>
            <a:r>
              <a:t>● CPAD Core Principle: Shared declarative TypeScript logic paired with native platform UI rendering for 60fps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03 — COURSE OBJECTIVES &amp; GOALS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Six engineering goals in React Native.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Cross-Platform Architecture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Single declarative TypeScript codebase running natively on Android with zero code duplication or platform silos.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933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Custom Component Design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Handcrafted artisanal UI widgets without heavy third-party UI kits (RoastMeter, TasteProfileBar, GrindSelector).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933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Declarative State Management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Lightweight unidirectional state using Zustand 5.0, eliminating prop-drilling and optimizing render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507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04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Multi-Screen Navigation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Deeply nested routing architecture combining React Navigation Native Stack and custom 5-tab Bottom Tab Bar.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8862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40507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05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Vector Graphics Pipeline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Zero-dependency vector rendering using react-native-svg, ensuring scalable high-DPI rendering across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886200"/>
            <a:ext cx="3328416" cy="178308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4050792"/>
            <a:ext cx="2871216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06</a:t>
            </a:r>
          </a:p>
          <a:p>
            <a:pPr>
              <a:spcAft>
                <a:spcPts val="600"/>
              </a:spcAft>
              <a:defRPr sz="1500" b="1">
                <a:solidFill>
                  <a:srgbClr val="F9F6F0"/>
                </a:solidFill>
                <a:latin typeface="Helvetica"/>
              </a:defRPr>
            </a:pPr>
            <a:r>
              <a:t>Native Build &amp; Offline APK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Complete React Native CLI workflow, embedded JS bundling, and zero-Metro standalone offline execution on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04 — TECHNOLOGY STACK &amp; TOOLING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Modern React Native ecosystem,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50592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08483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REACT NATIVE CORE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React Native 0.87.0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New Architecture ready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TypeScript 6.0 Strict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100% type safety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Hermes JS Engine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Ahead-Of-Time (AOT) bytecode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Yoga Flexbox Engine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Cross-platform flex layout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737360"/>
            <a:ext cx="2450592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1920240"/>
            <a:ext cx="208483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STATE &amp; NAVIGATION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Zustand 5.0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Unidirectional reactive stores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React Navigation 7.x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Native Stack &amp; Bottom Tabs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React Native SVG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Scalable vector pipeline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Zero UI Kits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Handcrafted artisanal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737360"/>
            <a:ext cx="2450592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20240"/>
            <a:ext cx="208483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BUILD &amp; PLATFORM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Android Studio &amp; SDK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Target API 34 / 35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Vivo 1919 Device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Physical Android 12 testing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Gradle 9 &amp; JDK 21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Native C++ CMake build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Standalone Bundle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Embedded assets (useDevSupport=false)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737360"/>
            <a:ext cx="2450592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432" y="1920240"/>
            <a:ext cx="208483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TESTING &amp; QUALITY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Jest 29 &amp; Renderer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Unit tests for stores &amp; math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ESLint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Zero warnings, clean quality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Git &amp; GitHub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Public repository &amp; CI</a:t>
            </a:r>
          </a:p>
          <a:p>
            <a:pPr>
              <a:spcAft>
                <a:spcPts val="100"/>
              </a:spcAft>
              <a:defRPr sz="1300" b="1">
                <a:solidFill>
                  <a:srgbClr val="F9F6F0"/>
                </a:solidFill>
                <a:latin typeface="Helvetica"/>
              </a:defRPr>
            </a:pPr>
            <a:r>
              <a:t>Strict Compiler</a:t>
            </a:r>
          </a:p>
          <a:p>
            <a:pPr>
              <a:spcAft>
                <a:spcPts val="10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Zero errors in npx tsc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5029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101800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B788"/>
                </a:solidFill>
                <a:latin typeface="Arial"/>
              </a:defRPr>
            </a:pPr>
            <a:r>
              <a:t>● Bare React Native Community CLI workflow · Zero Expo bloat · Native Android SDK · Direct access to native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05 — COMPONENT ARCHITECTURE &amp; TOPOLOGY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Hierarchical React Native component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035040" cy="43891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669280" cy="402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COMPONENT &amp; NAVIGATION TOPOLOGY</a:t>
            </a:r>
          </a:p>
          <a:p>
            <a:pPr>
              <a:spcAft>
                <a:spcPts val="400"/>
              </a:spcAft>
              <a:defRPr sz="1000" b="1">
                <a:solidFill>
                  <a:srgbClr val="F9F6F0"/>
                </a:solidFill>
                <a:latin typeface="Courier New"/>
              </a:defRPr>
            </a:pPr>
            <a:r>
              <a:t>SafeAreaProvider  (Edge-to-edge Android display)</a:t>
            </a:r>
          </a:p>
          <a:p>
            <a:pPr>
              <a:spcAft>
                <a:spcPts val="400"/>
              </a:spcAft>
              <a:defRPr sz="1000" b="0">
                <a:solidFill>
                  <a:srgbClr val="F9F6F0"/>
                </a:solidFill>
                <a:latin typeface="Courier New"/>
              </a:defRPr>
            </a:pPr>
            <a:r>
              <a:t>  └── NavigationContainer  (React Navigation 7 Context)</a:t>
            </a:r>
          </a:p>
          <a:p>
            <a:pPr>
              <a:spcAft>
                <a:spcPts val="400"/>
              </a:spcAft>
              <a:defRPr sz="1000" b="1">
                <a:solidFill>
                  <a:srgbClr val="F2A679"/>
                </a:solidFill>
                <a:latin typeface="Courier New"/>
              </a:defRPr>
            </a:pPr>
            <a:r>
              <a:t>        └── RootNavigator  (Native Stack Navigator)</a:t>
            </a:r>
          </a:p>
          <a:p>
            <a:pPr>
              <a:spcAft>
                <a:spcPts val="400"/>
              </a:spcAft>
              <a:defRPr sz="1000" b="0">
                <a:solidFill>
                  <a:srgbClr val="F9F6F0"/>
                </a:solidFill>
                <a:latin typeface="Courier New"/>
              </a:defRPr>
            </a:pPr>
            <a:r>
              <a:t>              ├── BottomTabNavigator  (Custom 5-Tab Bar)</a:t>
            </a:r>
          </a:p>
          <a:p>
            <a:pPr>
              <a:spcAft>
                <a:spcPts val="400"/>
              </a:spcAft>
              <a:defRPr sz="1000" b="0">
                <a:solidFill>
                  <a:srgbClr val="A89F95"/>
                </a:solidFill>
                <a:latin typeface="Courier New"/>
              </a:defRPr>
            </a:pPr>
            <a:r>
              <a:t>              │     ├── RoasteryScreen  (Hero, Micro-Lots)</a:t>
            </a:r>
          </a:p>
          <a:p>
            <a:pPr>
              <a:spcAft>
                <a:spcPts val="400"/>
              </a:spcAft>
              <a:defRPr sz="1000" b="0">
                <a:solidFill>
                  <a:srgbClr val="A89F95"/>
                </a:solidFill>
                <a:latin typeface="Courier New"/>
              </a:defRPr>
            </a:pPr>
            <a:r>
              <a:t>              │     ├── ExploreScreen  (Filters &amp; Search)</a:t>
            </a:r>
          </a:p>
          <a:p>
            <a:pPr>
              <a:spcAft>
                <a:spcPts val="400"/>
              </a:spcAft>
              <a:defRPr sz="1000" b="0">
                <a:solidFill>
                  <a:srgbClr val="A89F95"/>
                </a:solidFill>
                <a:latin typeface="Courier New"/>
              </a:defRPr>
            </a:pPr>
            <a:r>
              <a:t>              │     ├── SavedScreen  (Wishlist Favorites)</a:t>
            </a:r>
          </a:p>
          <a:p>
            <a:pPr>
              <a:spcAft>
                <a:spcPts val="400"/>
              </a:spcAft>
              <a:defRPr sz="1000" b="0">
                <a:solidFill>
                  <a:srgbClr val="A89F95"/>
                </a:solidFill>
                <a:latin typeface="Courier New"/>
              </a:defRPr>
            </a:pPr>
            <a:r>
              <a:t>              │     ├── CartScreen  (Items &amp; Shipping Meter)</a:t>
            </a:r>
          </a:p>
          <a:p>
            <a:pPr>
              <a:spcAft>
                <a:spcPts val="400"/>
              </a:spcAft>
              <a:defRPr sz="1000" b="0">
                <a:solidFill>
                  <a:srgbClr val="A89F95"/>
                </a:solidFill>
                <a:latin typeface="Courier New"/>
              </a:defRPr>
            </a:pPr>
            <a:r>
              <a:t>              │     └── PalateScreen  (Profile &amp; Quiz)</a:t>
            </a:r>
          </a:p>
          <a:p>
            <a:pPr>
              <a:spcAft>
                <a:spcPts val="400"/>
              </a:spcAft>
              <a:defRPr sz="1000" b="0">
                <a:solidFill>
                  <a:srgbClr val="F9F6F0"/>
                </a:solidFill>
                <a:latin typeface="Courier New"/>
              </a:defRPr>
            </a:pPr>
            <a:r>
              <a:t>              ├── ProductDetails  (RoastMeter &amp; Dial-In Guide)</a:t>
            </a:r>
          </a:p>
          <a:p>
            <a:pPr>
              <a:spcAft>
                <a:spcPts val="400"/>
              </a:spcAft>
              <a:defRPr sz="1000" b="0">
                <a:solidFill>
                  <a:srgbClr val="F9F6F0"/>
                </a:solidFill>
                <a:latin typeface="Courier New"/>
              </a:defRPr>
            </a:pPr>
            <a:r>
              <a:t>              ├── CheckoutScreen  (Batch Scheduling &amp; Pay)</a:t>
            </a:r>
          </a:p>
          <a:p>
            <a:pPr>
              <a:spcAft>
                <a:spcPts val="400"/>
              </a:spcAft>
              <a:defRPr sz="1000" b="0">
                <a:solidFill>
                  <a:srgbClr val="F9F6F0"/>
                </a:solidFill>
                <a:latin typeface="Courier New"/>
              </a:defRPr>
            </a:pPr>
            <a:r>
              <a:t>              └── OrderTracking  (5-Stage Roastery Timeline)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4419295" cy="43891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920240"/>
            <a:ext cx="396209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REACT NATIVE CORE APIS UTILIZED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&lt;View&gt; &amp; &lt;Text&gt;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Semantic structural primitives with strict typography hierarchy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&lt;ScrollView&gt; &amp; &lt;FlatList&gt;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Virtualized lists with optimized keyExtractors &amp; lazy rendering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&lt;Pressable&gt;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Modern touch handling with active tactile opacity &amp; ripple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&lt;Modal&gt;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Native animated overlay for 3-step Palate Matcher Quiz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StyleSheet.create()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Cached, validated style objects compiled to native IDs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Svg, Path, Circle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Zero-dependency vector rendering via react-native-svg</a:t>
            </a:r>
          </a:p>
          <a:p>
            <a:pPr>
              <a:spcAft>
                <a:spcPts val="100"/>
              </a:spcAft>
              <a:defRPr sz="1100" b="1">
                <a:solidFill>
                  <a:srgbClr val="F9F6F0"/>
                </a:solidFill>
                <a:latin typeface="Courier New"/>
              </a:defRPr>
            </a:pPr>
            <a:r>
              <a:t>Platform &amp; Dimensions</a:t>
            </a:r>
          </a:p>
          <a:p>
            <a:pPr>
              <a:spcAft>
                <a:spcPts val="6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Dynamic device notch, safe insets, and screen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06 — APPLICATION SCREENS &amp; IMPLEMENTATION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Cross-platform screens in live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682496"/>
            <a:ext cx="2487168" cy="3858767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37744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E27A3F"/>
                </a:solidFill>
                <a:latin typeface="Helvetica"/>
              </a:defRPr>
            </a:pPr>
            <a:r>
              <a:t>01 Home Screen</a:t>
            </a:r>
          </a:p>
          <a:p>
            <a:pPr algn="ctr">
              <a:defRPr sz="1000">
                <a:solidFill>
                  <a:srgbClr val="A89F95"/>
                </a:solidFill>
                <a:latin typeface="Arial"/>
              </a:defRPr>
            </a:pPr>
            <a:r>
              <a:t>FlatLists, hero banner &amp; collections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82496"/>
            <a:ext cx="2487168" cy="3858767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exp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737360"/>
            <a:ext cx="2377440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11296" y="56235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E27A3F"/>
                </a:solidFill>
                <a:latin typeface="Helvetica"/>
              </a:defRPr>
            </a:pPr>
            <a:r>
              <a:t>02 Explore Screen</a:t>
            </a:r>
          </a:p>
          <a:p>
            <a:pPr algn="ctr">
              <a:defRPr sz="1000">
                <a:solidFill>
                  <a:srgbClr val="A89F95"/>
                </a:solidFill>
                <a:latin typeface="Arial"/>
              </a:defRPr>
            </a:pPr>
            <a:r>
              <a:t>Controlled TextInput &amp; roast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82496"/>
            <a:ext cx="2487168" cy="3858767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_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737360"/>
            <a:ext cx="2377440" cy="3749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1072" y="56235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E27A3F"/>
                </a:solidFill>
                <a:latin typeface="Helvetica"/>
              </a:defRPr>
            </a:pPr>
            <a:r>
              <a:t>03 Details Screen</a:t>
            </a:r>
          </a:p>
          <a:p>
            <a:pPr algn="ctr">
              <a:defRPr sz="1000">
                <a:solidFill>
                  <a:srgbClr val="A89F95"/>
                </a:solidFill>
                <a:latin typeface="Arial"/>
              </a:defRPr>
            </a:pPr>
            <a:r>
              <a:t>Custom SVG RoastMeter &amp; dial-in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682496"/>
            <a:ext cx="2487168" cy="3858767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1737360"/>
            <a:ext cx="2377440" cy="3749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70848" y="56235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E27A3F"/>
                </a:solidFill>
                <a:latin typeface="Helvetica"/>
              </a:defRPr>
            </a:pPr>
            <a:r>
              <a:t>04 Cart Screen</a:t>
            </a:r>
          </a:p>
          <a:p>
            <a:pPr algn="ctr">
              <a:defRPr sz="1000">
                <a:solidFill>
                  <a:srgbClr val="A89F95"/>
                </a:solidFill>
                <a:latin typeface="Arial"/>
              </a:defRPr>
            </a:pPr>
            <a:r>
              <a:t>Derived state, free shipping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07 — STATE MANAGEMENT &amp; DATA FLOW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Unidirectional data flow with Zustand in React Native.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46304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2714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STATE MANAGEMENT PARADIGM COMPARISON</a:t>
            </a:r>
          </a:p>
          <a:p>
            <a:pPr>
              <a:spcAft>
                <a:spcPts val="300"/>
              </a:spcAft>
              <a:defRPr sz="1100">
                <a:solidFill>
                  <a:srgbClr val="A89F95"/>
                </a:solidFill>
                <a:latin typeface="Arial"/>
              </a:defRPr>
            </a:pPr>
            <a:r>
              <a:t>• React Context API: Triggers full sub-tree re-renders on any state mutation, causing noticeable frame drops in lists.</a:t>
            </a:r>
          </a:p>
          <a:p>
            <a:pPr>
              <a:spcAft>
                <a:spcPts val="300"/>
              </a:spcAft>
              <a:defRPr sz="1100">
                <a:solidFill>
                  <a:srgbClr val="A89F95"/>
                </a:solidFill>
                <a:latin typeface="Arial"/>
              </a:defRPr>
            </a:pPr>
            <a:r>
              <a:t>• Redux: Heavy boilerplate, actions/reducers ceremony, and oversized bundle footprint.</a:t>
            </a:r>
          </a:p>
          <a:p>
            <a:pPr>
              <a:defRPr sz="1150" b="1">
                <a:solidFill>
                  <a:srgbClr val="52B788"/>
                </a:solidFill>
                <a:latin typeface="Arial"/>
              </a:defRPr>
            </a:pPr>
            <a:r>
              <a:t>• Zustand 5.0 (BrewBox Choice): Micro-store architecture with selective subscriptions (useCartStore(s =&gt; s.items)), immutable updates, zero boilerplate, and 60fps UI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468880" cy="265176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103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Courier New"/>
              </a:defRPr>
            </a:pPr>
            <a:r>
              <a:t>cartStore.ts</a:t>
            </a:r>
          </a:p>
          <a:p>
            <a:pPr>
              <a:spcAft>
                <a:spcPts val="8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Cart &amp; Commerce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Item variants (Grind, Weight)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Dynamic quantity steppers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Free shipping meter (₹999)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5% GST tax calculation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Promo vouchers (ROASTMASTER15)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3383280"/>
            <a:ext cx="2468880" cy="265176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3520440"/>
            <a:ext cx="2103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Courier New"/>
              </a:defRPr>
            </a:pPr>
            <a:r>
              <a:t>wishlistStore.ts</a:t>
            </a:r>
          </a:p>
          <a:p>
            <a:pPr>
              <a:spcAft>
                <a:spcPts val="8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Favorites &amp; Bookmarks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O(1) Set lookup by ID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Optimistic UI toggling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One-tap 'Move to Cart'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Local device persistence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Zero unnecessary re-renders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83280"/>
            <a:ext cx="2468880" cy="265176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520440"/>
            <a:ext cx="2103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Courier New"/>
              </a:defRPr>
            </a:pPr>
            <a:r>
              <a:t>filterStore.ts</a:t>
            </a:r>
          </a:p>
          <a:p>
            <a:pPr>
              <a:spcAft>
                <a:spcPts val="8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Catalog Predicates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Real-time search text filter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Category tabs (Coffee, Tea)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Roast level multi-select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Micro-lot exclusivity flag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Dynamic sorting algorithms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3383280"/>
            <a:ext cx="2468880" cy="265176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520440"/>
            <a:ext cx="21031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Courier New"/>
              </a:defRPr>
            </a:pPr>
            <a:r>
              <a:t>userStore.ts</a:t>
            </a:r>
          </a:p>
          <a:p>
            <a:pPr>
              <a:spcAft>
                <a:spcPts val="8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Profile &amp; Orders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Roastery Gold member tier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Bean Rewards accumulation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Saved delivery addresses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Palate Persona taste leaning</a:t>
            </a:r>
          </a:p>
          <a:p>
            <a:pPr>
              <a:spcAft>
                <a:spcPts val="4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• 5-Stage live order batch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08 — STYLING &amp; YOGA FLEXBOX ENGINE</a:t>
            </a:r>
          </a:p>
          <a:p>
            <a:pPr>
              <a:spcAft>
                <a:spcPts val="300"/>
              </a:spcAft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Artisanal cross-platform design system.</a:t>
            </a:r>
          </a:p>
          <a:p>
            <a:pPr>
              <a:defRPr sz="1250">
                <a:solidFill>
                  <a:srgbClr val="A89F95"/>
                </a:solidFill>
                <a:latin typeface="Arial"/>
              </a:defRPr>
            </a:pPr>
            <a:r>
              <a:t>Leveraging React Native's Yoga Flexbox engine for consistent cross-platform layouts.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7772400" cy="43891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7315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REACT NATIVE STYLING PRINCIPLES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01  Yoga Flexbox Layout — </a:t>
            </a:r>
            <a:r>
              <a:rPr b="0">
                <a:solidFill>
                  <a:srgbClr val="A89F95"/>
                </a:solidFill>
                <a:latin typeface="Arial"/>
              </a:rPr>
              <a:t>Pure Flexbox layout (flexDirection, justifyContent, alignItems, flexWrap) working identically across Android and iOS.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02  Compiled StyleSheet API — </a:t>
            </a:r>
            <a:r>
              <a:rPr b="0">
                <a:solidFill>
                  <a:srgbClr val="A89F95"/>
                </a:solidFill>
                <a:latin typeface="Arial"/>
              </a:rPr>
              <a:t>Styles defined outside render functions via StyleSheet.create(), compiled into native style IDs to reduce JS-to-native overhead.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03  Artisanal Design Tokens — </a:t>
            </a:r>
            <a:r>
              <a:rPr b="0">
                <a:solidFill>
                  <a:srgbClr val="A89F95"/>
                </a:solidFill>
                <a:latin typeface="Arial"/>
              </a:rPr>
              <a:t>Centralized palette tokens in src/theme/ (Terracotta #C86D3B, Obsidian #1A120B, Oat Cream #F9F6F0, Matcha Sage #2E4A35).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04  Bespoke Vector Pipeline — </a:t>
            </a:r>
            <a:r>
              <a:rPr b="0">
                <a:solidFill>
                  <a:srgbClr val="A89F95"/>
                </a:solidFill>
                <a:latin typeface="Arial"/>
              </a:rPr>
              <a:t>30+ custom SVG glyphs (bean, dripper, teapot, flame) built with react-native-svg — zero icon font dependency.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05  Interactive Sensory Widgets — </a:t>
            </a:r>
            <a:r>
              <a:rPr b="0">
                <a:solidFill>
                  <a:srgbClr val="A89F95"/>
                </a:solidFill>
                <a:latin typeface="Arial"/>
              </a:rPr>
              <a:t>Custom visual 5-stage RoastMeter, multi-dimensional TasteProfileBar, and tactile 6-stage GrindSelector.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06  Platform Shadow Adaptation — </a:t>
            </a:r>
            <a:r>
              <a:rPr b="0">
                <a:solidFill>
                  <a:srgbClr val="A89F95"/>
                </a:solidFill>
                <a:latin typeface="Arial"/>
              </a:rPr>
              <a:t>Cross-platform depth elevation using Android elevation attribute alongside iOS shadowColor/shadowOffset tokens.</a:t>
            </a:r>
          </a:p>
          <a:p>
            <a:pPr>
              <a:spcAft>
                <a:spcPts val="7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07  Responsive SafeArea Design — </a:t>
            </a:r>
            <a:r>
              <a:rPr b="0">
                <a:solidFill>
                  <a:srgbClr val="A89F95"/>
                </a:solidFill>
                <a:latin typeface="Arial"/>
              </a:rPr>
              <a:t>Seamless handling of Android status bar, camera hole-punch cutouts, and navigation gestures.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82496"/>
            <a:ext cx="2487168" cy="4498848"/>
          </a:xfrm>
          <a:prstGeom prst="roundRect">
            <a:avLst/>
          </a:prstGeom>
          <a:solidFill>
            <a:srgbClr val="1C1613"/>
          </a:solidFill>
          <a:ln w="19050">
            <a:solidFill>
              <a:srgbClr val="41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737360"/>
            <a:ext cx="2377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09 — PERFORMANCE &amp; RUNTIME OPTIMIZATION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Engineering 60fps cross-platform interactions.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Hermes JavaScript Engine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Pre-compiles JavaScript into optimized bytecode Ahead-Of-Time (AOT). Eliminates runtime JS parsing, cuts app startup time (TTI) by ~50%, and minimizes RAM consumption.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Atomic Zustand Selectors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Components subscribe only to exact state slices (e.g. useCartStore(s =&gt; s.itemCount)), preventing parent re-renders from cascading down the virtual DOM tree.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StyleSheet Caching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Styles are declared once outside component lifecycles using StyleSheet.create(), avoiding memory allocations on every state update and caching style IDs on the native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9933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Pressable API with Ripples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Uses modern React Native Pressable with hardware-accelerated ripple effects on Android and instant gesture response without touch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05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FlatList Virtualization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Employs getItemLayout, initialNumToRender, and unique keyExtractors to recycle off-screen views, maintaining 60fps scrolling in product grids.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862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0507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06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Zero-Dependency SVGs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Custom vector paths eliminate heavy font icon bundles or remote image requests, resulting in zero network lag during icon rendering.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07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Edge-to-Edge SafeArea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Hardware-accelerated window insets adaptation that prevents layout jumps when the Android keyboard or system navigation appears.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886200"/>
            <a:ext cx="2468880" cy="18288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050792"/>
            <a:ext cx="2103120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08</a:t>
            </a:r>
          </a:p>
          <a:p>
            <a:pPr>
              <a:spcAft>
                <a:spcPts val="4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Strict TypeScript 6.0</a:t>
            </a:r>
          </a:p>
          <a:p>
            <a:pPr>
              <a:defRPr sz="950">
                <a:solidFill>
                  <a:srgbClr val="A89F95"/>
                </a:solidFill>
                <a:latin typeface="Arial"/>
              </a:defRPr>
            </a:pPr>
            <a:r>
              <a:t>Compile-time prop and state validation prevents runtime undefined errors and guarantees predictable component interfaces.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10 — NATIVE BUILD PIPELINE &amp; OFFLINE APK</a:t>
            </a:r>
          </a:p>
          <a:p>
            <a:pPr>
              <a:spcAft>
                <a:spcPts val="300"/>
              </a:spcAft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From JavaScript to standalone Android APK.</a:t>
            </a:r>
          </a:p>
          <a:p>
            <a:pPr>
              <a:defRPr sz="1250">
                <a:solidFill>
                  <a:srgbClr val="A89F95"/>
                </a:solidFill>
                <a:latin typeface="Arial"/>
              </a:defRPr>
            </a:pPr>
            <a:r>
              <a:t>Overcoming Metro dev-server dependencies for reliable offline execution on physical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STAGE 01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Offline Bundle Generation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Pre-compiled JavaScript bundle and 19 vector drawable assets compiled into the native Android assets directory:</a:t>
            </a:r>
            <a:br/>
            <a:br/>
            <a:r>
              <a:t>• assets/index.android.bundle</a:t>
            </a:r>
            <a:br/>
            <a:r>
              <a:t>• res/drawable-* (19 assets)</a:t>
            </a:r>
            <a:br/>
            <a:br/>
            <a:r>
              <a:t>Eliminates on-the-fly JavaScript bundling and network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3657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STAGE 02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useDevSupport = false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Configured MainApplication.kt with useDevSupport = false in getDefaultReactHost:</a:t>
            </a:r>
            <a:br/>
            <a:br/>
            <a:r>
              <a:t>• Prevents Android from seeking Metro on port 8081</a:t>
            </a:r>
            <a:br/>
            <a:r>
              <a:t>• Eliminates 'Unable to load script' red screens</a:t>
            </a:r>
            <a:br/>
            <a:r>
              <a:t>• Forces Android to load embedded assets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3657600"/>
          </a:xfrm>
          <a:prstGeom prst="roundRect">
            <a:avLst/>
          </a:prstGeom>
          <a:solidFill>
            <a:srgbClr val="201916"/>
          </a:solidFill>
          <a:ln w="12700">
            <a:solidFill>
              <a:srgbClr val="B4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965960"/>
            <a:ext cx="2871216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STAGE 03</a:t>
            </a:r>
          </a:p>
          <a:p>
            <a:pPr>
              <a:spcAft>
                <a:spcPts val="1200"/>
              </a:spcAft>
              <a:defRPr sz="1700" b="1">
                <a:solidFill>
                  <a:srgbClr val="F9F6F0"/>
                </a:solidFill>
                <a:latin typeface="Helvetica"/>
              </a:defRPr>
            </a:pPr>
            <a:r>
              <a:t>Physical Hardware Verification</a:t>
            </a:r>
          </a:p>
          <a:p>
            <a:pPr>
              <a:defRPr sz="1100">
                <a:solidFill>
                  <a:srgbClr val="A89F95"/>
                </a:solidFill>
                <a:latin typeface="Arial"/>
              </a:defRPr>
            </a:pPr>
            <a:r>
              <a:t>Verified on connected physical device (Vivo 1919):</a:t>
            </a:r>
            <a:br/>
            <a:br/>
            <a:r>
              <a:t>• Terminated all background Metro servers</a:t>
            </a:r>
            <a:br/>
            <a:r>
              <a:t>• Removed all adb reverse network tunnels</a:t>
            </a:r>
            <a:br/>
            <a:r>
              <a:t>• Cold boot via am force-stop</a:t>
            </a:r>
            <a:br/>
            <a:r>
              <a:t>• 0 fatal crashes, instant native render.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728655" cy="5029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715000"/>
            <a:ext cx="101800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52B788"/>
                </a:solidFill>
                <a:latin typeface="Arial"/>
              </a:defRPr>
            </a:pPr>
            <a:r>
              <a:t>● Result: The user can disconnect the USB cable and open BrewBox from their app drawer anytime — 100% offline.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11 — TESTING AND VALIDATION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Rigorous verification across the React Native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FLOWS TESTED ON PHYSICAL VIVO 1919 (ANDROID 12)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Bottom Tab Navigation &amp; Stack Transitions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Controlled Search &amp; Multi-Criteria Filtering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Sensory RoastMeter 5-Stage Visual Scale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Multi-Dimensional TasteProfileBar Meters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Interactive 6-Stage Grind Selector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Barista Extraction Dial-In Brew Guides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Palate Matcher 3-Step Interactive Quiz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Dynamic Free Shipping Progress Meter (₹999)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Promo Code Engine (ROASTMASTER15, FIRSTBREW)</a:t>
            </a:r>
          </a:p>
          <a:p>
            <a:pPr>
              <a:spcAft>
                <a:spcPts val="700"/>
              </a:spcAft>
              <a:defRPr sz="1100">
                <a:solidFill>
                  <a:srgbClr val="F9F6F0"/>
                </a:solidFill>
                <a:latin typeface="Arial"/>
              </a:defRPr>
            </a:pPr>
            <a:r>
              <a:t>✓ 5-Stage Live Roastery Batch Order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33695" cy="123444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48764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TYPESCRIPT &amp; CODE QUALITY</a:t>
            </a:r>
          </a:p>
          <a:p>
            <a:pPr>
              <a:defRPr sz="1200">
                <a:solidFill>
                  <a:srgbClr val="F9F6F0"/>
                </a:solidFill>
                <a:latin typeface="Courier New"/>
              </a:defRPr>
            </a:pPr>
            <a:r>
              <a:t>npx tsc --noEmit &amp;&amp; npm run lint</a:t>
            </a:r>
          </a:p>
          <a:p>
            <a:pPr>
              <a:defRPr sz="1050">
                <a:solidFill>
                  <a:srgbClr val="52B788"/>
                </a:solidFill>
                <a:latin typeface="Arial"/>
              </a:defRPr>
            </a:pPr>
            <a:r>
              <a:t>● 0 errors · 0 warnings · 100% clean strict compilation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5333695" cy="14173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87649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TEST SUITE &amp; ANDROID BUILD</a:t>
            </a:r>
          </a:p>
          <a:p>
            <a:pPr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Jest: 2 suites, 7/7 tests passed (cartStore &amp; App)</a:t>
            </a:r>
          </a:p>
          <a:p>
            <a:pPr>
              <a:defRPr sz="1050">
                <a:solidFill>
                  <a:srgbClr val="52B788"/>
                </a:solidFill>
                <a:latin typeface="Arial"/>
              </a:defRPr>
            </a:pPr>
            <a:r>
              <a:t>● Clean Gradle assembleDebug SUCCESS (10s build time)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54880"/>
            <a:ext cx="5333695" cy="137160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892040"/>
            <a:ext cx="48764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VERSION CONTROL &amp; REPOSITORY</a:t>
            </a:r>
          </a:p>
          <a:p>
            <a:pPr>
              <a:defRPr sz="1200" b="1">
                <a:solidFill>
                  <a:srgbClr val="F2A679"/>
                </a:solidFill>
                <a:latin typeface="Courier New"/>
              </a:defRPr>
            </a:pPr>
            <a:r>
              <a:t>github.com/Varadha9/BrewBox</a:t>
            </a:r>
          </a:p>
          <a:p>
            <a:pPr>
              <a:defRPr sz="1050">
                <a:solidFill>
                  <a:srgbClr val="A89F95"/>
                </a:solidFill>
                <a:latin typeface="Arial"/>
              </a:defRPr>
            </a:pPr>
            <a:r>
              <a:t>Commit 3d9081f · Verified clean tree · Full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27A3F"/>
                </a:solidFill>
                <a:latin typeface="Helvetica"/>
              </a:defRPr>
            </a:pPr>
            <a:r>
              <a:t>12 — CONCLUSION &amp; LEARNING OUTCOMES</a:t>
            </a:r>
          </a:p>
          <a:p>
            <a:pPr>
              <a:defRPr sz="2800" b="1">
                <a:solidFill>
                  <a:srgbClr val="F9F6F0"/>
                </a:solidFill>
                <a:latin typeface="Helvetica"/>
              </a:defRPr>
            </a:pPr>
            <a:r>
              <a:t>Cross-platform mastery through BrewBox.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36B63"/>
                </a:solidFill>
                <a:latin typeface="Arial"/>
              </a:defRPr>
            </a:pPr>
            <a:r>
              <a:t>CPAD · BrewBox Mobile App · Varad Vikas Mandhare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736B63"/>
                </a:solidFill>
                <a:latin typeface="Arial"/>
              </a:defRPr>
            </a:pPr>
            <a: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91412"/>
          </a:solidFill>
          <a:ln w="12700">
            <a:solidFill>
              <a:srgbClr val="322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ACADEMIC &amp; PRACTICAL LEARNING</a:t>
            </a:r>
          </a:p>
          <a:p>
            <a:pPr>
              <a:spcAft>
                <a:spcPts val="6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• Cross-Platform Efficiency: </a:t>
            </a:r>
            <a:r>
              <a:rPr b="0">
                <a:solidFill>
                  <a:srgbClr val="A89F95"/>
                </a:solidFill>
                <a:latin typeface="Arial"/>
              </a:rPr>
              <a:t>Achieved 100% logic and component reuse across views with zero platform-specific divergence.</a:t>
            </a:r>
          </a:p>
          <a:p>
            <a:pPr>
              <a:spcAft>
                <a:spcPts val="6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• Component Modularity: </a:t>
            </a:r>
            <a:r>
              <a:rPr b="0">
                <a:solidFill>
                  <a:srgbClr val="A89F95"/>
                </a:solidFill>
                <a:latin typeface="Arial"/>
              </a:rPr>
              <a:t>Designed handcrafted artisanal UI widgets without relying on bloated generic third-party UI libraries.</a:t>
            </a:r>
          </a:p>
          <a:p>
            <a:pPr>
              <a:spcAft>
                <a:spcPts val="6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• State Management Mastery: </a:t>
            </a:r>
            <a:r>
              <a:rPr b="0">
                <a:solidFill>
                  <a:srgbClr val="A89F95"/>
                </a:solidFill>
                <a:latin typeface="Arial"/>
              </a:rPr>
              <a:t>Implemented atomic Zustand stores for 60fps rendering without Context API re-render penalties.</a:t>
            </a:r>
          </a:p>
          <a:p>
            <a:pPr>
              <a:spcAft>
                <a:spcPts val="600"/>
              </a:spcAft>
              <a:defRPr sz="1100" b="1">
                <a:solidFill>
                  <a:srgbClr val="F9F6F0"/>
                </a:solidFill>
                <a:latin typeface="Helvetica"/>
              </a:defRPr>
            </a:pPr>
            <a:r>
              <a:t>• Native Packaging: </a:t>
            </a:r>
            <a:r>
              <a:rPr b="0">
                <a:solidFill>
                  <a:srgbClr val="A89F95"/>
                </a:solidFill>
                <a:latin typeface="Arial"/>
              </a:rPr>
              <a:t>Overcame Metro dev-server constraints by mastering Android APK bundling and native Host overrides.</a:t>
            </a:r>
          </a:p>
          <a:p>
            <a:pPr>
              <a:spcBef>
                <a:spcPts val="800"/>
              </a:spcBef>
              <a:defRPr sz="1500" b="1">
                <a:solidFill>
                  <a:srgbClr val="F2A679"/>
                </a:solidFill>
                <a:latin typeface="Helvetica"/>
              </a:defRPr>
            </a:pPr>
            <a:r>
              <a:t>Thank you — questions welcome.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33695" cy="4389120"/>
          </a:xfrm>
          <a:prstGeom prst="roundRect">
            <a:avLst/>
          </a:prstGeom>
          <a:solidFill>
            <a:srgbClr val="201916"/>
          </a:solidFill>
          <a:ln w="12700">
            <a:solidFill>
              <a:srgbClr val="B4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87649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27A3F"/>
                </a:solidFill>
                <a:latin typeface="Helvetica"/>
              </a:defRPr>
            </a:pPr>
            <a:r>
              <a:t>FUTURE SCOPE &amp; EXTENSIONS</a:t>
            </a:r>
          </a:p>
          <a:p>
            <a:pPr>
              <a:spcAft>
                <a:spcPts val="2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01  Supabase Cloud Backend</a:t>
            </a:r>
          </a:p>
          <a:p>
            <a:pPr>
              <a:spcAft>
                <a:spcPts val="8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PostgreSQL database integration for user authentication, live catalog synchronization, and cloud order persistence.</a:t>
            </a:r>
          </a:p>
          <a:p>
            <a:pPr>
              <a:spcAft>
                <a:spcPts val="2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02  Razorpay Native Gateway</a:t>
            </a:r>
          </a:p>
          <a:p>
            <a:pPr>
              <a:spcAft>
                <a:spcPts val="8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Production payment gateway SDK integration supporting instant UPI Intent, Cards, and Net Banking.</a:t>
            </a:r>
          </a:p>
          <a:p>
            <a:pPr>
              <a:spcAft>
                <a:spcPts val="2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03  Cross-Platform iOS &amp; iPadOS</a:t>
            </a:r>
          </a:p>
          <a:p>
            <a:pPr>
              <a:spcAft>
                <a:spcPts val="8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Native iOS compilation and testing with Apple Pay and iPad split-view optimization.</a:t>
            </a:r>
          </a:p>
          <a:p>
            <a:pPr>
              <a:spcAft>
                <a:spcPts val="2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04  Push Notifications via FCM</a:t>
            </a:r>
          </a:p>
          <a:p>
            <a:pPr>
              <a:spcAft>
                <a:spcPts val="8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Firebase Cloud Messaging alerts notifying users of newly dropped seasonal micro-lots and roasting days.</a:t>
            </a:r>
          </a:p>
          <a:p>
            <a:pPr>
              <a:spcAft>
                <a:spcPts val="200"/>
              </a:spcAft>
              <a:defRPr sz="1200" b="1">
                <a:solidFill>
                  <a:srgbClr val="F9F6F0"/>
                </a:solidFill>
                <a:latin typeface="Helvetica"/>
              </a:defRPr>
            </a:pPr>
            <a:r>
              <a:t>05  Smart Bluetooth Scale Sync</a:t>
            </a:r>
          </a:p>
          <a:p>
            <a:pPr>
              <a:spcAft>
                <a:spcPts val="800"/>
              </a:spcAft>
              <a:defRPr sz="1000">
                <a:solidFill>
                  <a:srgbClr val="A89F95"/>
                </a:solidFill>
                <a:latin typeface="Arial"/>
              </a:defRPr>
            </a:pPr>
            <a:r>
              <a:t>Bluetooth Low Energy (BLE) integration with smart scales and kettles for real-time extraction flow-rate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